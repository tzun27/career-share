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3" r:id="rId2"/>
  </p:sldIdLst>
  <p:sldSz cx="7559675" cy="10691813"/>
  <p:notesSz cx="6858000" cy="9144000"/>
  <p:embeddedFontLst>
    <p:embeddedFont>
      <p:font typeface="Lora" panose="020F0502020204030204" pitchFamily="2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690">
          <p15:clr>
            <a:srgbClr val="747775"/>
          </p15:clr>
        </p15:guide>
        <p15:guide id="2" pos="3952">
          <p15:clr>
            <a:srgbClr val="747775"/>
          </p15:clr>
        </p15:guide>
        <p15:guide id="3" pos="907">
          <p15:clr>
            <a:srgbClr val="747775"/>
          </p15:clr>
        </p15:guide>
        <p15:guide id="4" pos="4479">
          <p15:clr>
            <a:srgbClr val="747775"/>
          </p15:clr>
        </p15:guide>
        <p15:guide id="5" pos="28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46"/>
  </p:normalViewPr>
  <p:slideViewPr>
    <p:cSldViewPr snapToGrid="0">
      <p:cViewPr varScale="1">
        <p:scale>
          <a:sx n="98" d="100"/>
          <a:sy n="98" d="100"/>
        </p:scale>
        <p:origin x="4224" y="76"/>
      </p:cViewPr>
      <p:guideLst>
        <p:guide orient="horz" pos="6690"/>
        <p:guide pos="3952"/>
        <p:guide pos="907"/>
        <p:guide pos="4479"/>
        <p:guide pos="2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3C728F7-D758-EF72-469F-459515BF6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6FB43097-B80F-B917-C7C6-88BBD85260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1F70918E-0F6B-B36F-E66C-79AF3F317F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3117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B2EDBBD-D932-3268-E22A-25AC18B20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p13">
            <a:extLst>
              <a:ext uri="{FF2B5EF4-FFF2-40B4-BE49-F238E27FC236}">
                <a16:creationId xmlns:a16="http://schemas.microsoft.com/office/drawing/2014/main" id="{6CD00044-20CA-CE5C-64AA-59725F7E74EB}"/>
              </a:ext>
            </a:extLst>
          </p:cNvPr>
          <p:cNvCxnSpPr/>
          <p:nvPr/>
        </p:nvCxnSpPr>
        <p:spPr>
          <a:xfrm>
            <a:off x="0" y="230737"/>
            <a:ext cx="7561500" cy="0"/>
          </a:xfrm>
          <a:prstGeom prst="straightConnector1">
            <a:avLst/>
          </a:prstGeom>
          <a:noFill/>
          <a:ln w="1905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" name="Google Shape;65;p13">
            <a:extLst>
              <a:ext uri="{FF2B5EF4-FFF2-40B4-BE49-F238E27FC236}">
                <a16:creationId xmlns:a16="http://schemas.microsoft.com/office/drawing/2014/main" id="{1EEFEFC4-3318-AF72-8A73-66FBD54EF4CE}"/>
              </a:ext>
            </a:extLst>
          </p:cNvPr>
          <p:cNvSpPr txBox="1"/>
          <p:nvPr/>
        </p:nvSpPr>
        <p:spPr>
          <a:xfrm>
            <a:off x="2437900" y="393179"/>
            <a:ext cx="2677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1500" b="1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蔡鎬駿 Chai Hao Tzun</a:t>
            </a:r>
            <a:endParaRPr sz="1500" b="1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3" name="Google Shape;63;p13">
            <a:extLst>
              <a:ext uri="{FF2B5EF4-FFF2-40B4-BE49-F238E27FC236}">
                <a16:creationId xmlns:a16="http://schemas.microsoft.com/office/drawing/2014/main" id="{6FBC6C8E-F45F-D159-968E-A2C0974584E3}"/>
              </a:ext>
            </a:extLst>
          </p:cNvPr>
          <p:cNvSpPr/>
          <p:nvPr/>
        </p:nvSpPr>
        <p:spPr>
          <a:xfrm>
            <a:off x="0" y="761553"/>
            <a:ext cx="7561500" cy="269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3">
            <a:extLst>
              <a:ext uri="{FF2B5EF4-FFF2-40B4-BE49-F238E27FC236}">
                <a16:creationId xmlns:a16="http://schemas.microsoft.com/office/drawing/2014/main" id="{9AF00CDE-B186-39E6-A643-DEB8DB536031}"/>
              </a:ext>
            </a:extLst>
          </p:cNvPr>
          <p:cNvSpPr txBox="1"/>
          <p:nvPr/>
        </p:nvSpPr>
        <p:spPr>
          <a:xfrm>
            <a:off x="624850" y="811637"/>
            <a:ext cx="6303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www.linkedin.com/in/hao-tzun-chai • chaotzun@gmail.com • +886-976-347-703</a:t>
            </a:r>
            <a:endParaRPr sz="1100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8" name="Google Shape;68;p13">
            <a:extLst>
              <a:ext uri="{FF2B5EF4-FFF2-40B4-BE49-F238E27FC236}">
                <a16:creationId xmlns:a16="http://schemas.microsoft.com/office/drawing/2014/main" id="{9AA82243-3319-E11C-6BDD-B7DF721505AB}"/>
              </a:ext>
            </a:extLst>
          </p:cNvPr>
          <p:cNvSpPr txBox="1"/>
          <p:nvPr/>
        </p:nvSpPr>
        <p:spPr>
          <a:xfrm>
            <a:off x="443292" y="1224541"/>
            <a:ext cx="123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 b="1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EDUCATION</a:t>
            </a:r>
            <a:endParaRPr sz="1200" b="1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66" name="Google Shape;66;p13">
            <a:extLst>
              <a:ext uri="{FF2B5EF4-FFF2-40B4-BE49-F238E27FC236}">
                <a16:creationId xmlns:a16="http://schemas.microsoft.com/office/drawing/2014/main" id="{F1F8C486-CDAD-E41F-7A4E-50150B7164E2}"/>
              </a:ext>
            </a:extLst>
          </p:cNvPr>
          <p:cNvCxnSpPr/>
          <p:nvPr/>
        </p:nvCxnSpPr>
        <p:spPr>
          <a:xfrm>
            <a:off x="0" y="1511912"/>
            <a:ext cx="7561500" cy="0"/>
          </a:xfrm>
          <a:prstGeom prst="straightConnector1">
            <a:avLst/>
          </a:prstGeom>
          <a:noFill/>
          <a:ln w="1905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" name="Google Shape;69;p13">
            <a:extLst>
              <a:ext uri="{FF2B5EF4-FFF2-40B4-BE49-F238E27FC236}">
                <a16:creationId xmlns:a16="http://schemas.microsoft.com/office/drawing/2014/main" id="{9F96154B-7BB0-3BFC-EC49-70278F0A4F44}"/>
              </a:ext>
            </a:extLst>
          </p:cNvPr>
          <p:cNvSpPr txBox="1"/>
          <p:nvPr/>
        </p:nvSpPr>
        <p:spPr>
          <a:xfrm>
            <a:off x="443308" y="1638193"/>
            <a:ext cx="6719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tabLst>
                <a:tab pos="6718300" algn="r"/>
              </a:tabLst>
            </a:pPr>
            <a:r>
              <a:rPr lang="uk" sz="1000" b="1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NATIONAL CHENG KUNG UNIVERSITY	</a:t>
            </a:r>
            <a:r>
              <a:rPr lang="uk" sz="100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2025 - Present</a:t>
            </a:r>
            <a:endParaRPr sz="1000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0" name="Google Shape;70;p13">
            <a:extLst>
              <a:ext uri="{FF2B5EF4-FFF2-40B4-BE49-F238E27FC236}">
                <a16:creationId xmlns:a16="http://schemas.microsoft.com/office/drawing/2014/main" id="{5B5C6369-DD05-9876-2842-36DF2C1AEA29}"/>
              </a:ext>
            </a:extLst>
          </p:cNvPr>
          <p:cNvSpPr txBox="1"/>
          <p:nvPr/>
        </p:nvSpPr>
        <p:spPr>
          <a:xfrm>
            <a:off x="443300" y="1830468"/>
            <a:ext cx="3557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M.S. in Computer Science and Information Engineering.</a:t>
            </a:r>
            <a:endParaRPr sz="1000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1" name="Google Shape;71;p13">
            <a:extLst>
              <a:ext uri="{FF2B5EF4-FFF2-40B4-BE49-F238E27FC236}">
                <a16:creationId xmlns:a16="http://schemas.microsoft.com/office/drawing/2014/main" id="{028B1CE2-7800-2FF6-A937-8A4A34B82B3E}"/>
              </a:ext>
            </a:extLst>
          </p:cNvPr>
          <p:cNvSpPr txBox="1"/>
          <p:nvPr/>
        </p:nvSpPr>
        <p:spPr>
          <a:xfrm>
            <a:off x="445568" y="2145379"/>
            <a:ext cx="6717300" cy="1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6718300" algn="r"/>
              </a:tabLst>
            </a:pPr>
            <a:r>
              <a:rPr lang="uk" sz="1000" b="1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NATIONAL CHENG KUNG UNIVERSITY	</a:t>
            </a:r>
            <a:r>
              <a:rPr lang="uk" sz="100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2021 - 2025</a:t>
            </a:r>
            <a:endParaRPr sz="1000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D349620A-3C29-0B52-65D5-11B54E8BF418}"/>
              </a:ext>
            </a:extLst>
          </p:cNvPr>
          <p:cNvSpPr txBox="1"/>
          <p:nvPr/>
        </p:nvSpPr>
        <p:spPr>
          <a:xfrm>
            <a:off x="444613" y="2332380"/>
            <a:ext cx="3557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B.S. in Computer Science and Information Engineering.</a:t>
            </a:r>
            <a:endParaRPr sz="1000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2" name="Google Shape;72;p13">
            <a:extLst>
              <a:ext uri="{FF2B5EF4-FFF2-40B4-BE49-F238E27FC236}">
                <a16:creationId xmlns:a16="http://schemas.microsoft.com/office/drawing/2014/main" id="{9ED32C24-E847-D0BB-7928-701C607431E9}"/>
              </a:ext>
            </a:extLst>
          </p:cNvPr>
          <p:cNvSpPr txBox="1"/>
          <p:nvPr/>
        </p:nvSpPr>
        <p:spPr>
          <a:xfrm>
            <a:off x="291739" y="2547655"/>
            <a:ext cx="2795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921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000"/>
              <a:buFont typeface="Lora"/>
              <a:buChar char="●"/>
            </a:pPr>
            <a:r>
              <a:rPr lang="uk" sz="100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GPA: 4.05/4.3</a:t>
            </a:r>
            <a:endParaRPr sz="1000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ACCF5194-B221-D870-28A6-00A2FCE88B68}"/>
              </a:ext>
            </a:extLst>
          </p:cNvPr>
          <p:cNvSpPr txBox="1"/>
          <p:nvPr/>
        </p:nvSpPr>
        <p:spPr>
          <a:xfrm>
            <a:off x="288502" y="2718731"/>
            <a:ext cx="6798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921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000"/>
              <a:buFont typeface="Lora"/>
              <a:buChar char="●"/>
            </a:pPr>
            <a:r>
              <a:rPr lang="uk" sz="100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Relevant Coursework: Data Structures,Algorithms, Operating Systems,Linux System &amp; Open-Source Software, Introduction to Artificial Intelligence</a:t>
            </a:r>
            <a:endParaRPr sz="1000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0" name="Experience Header"/>
          <p:cNvSpPr txBox="1"/>
          <p:nvPr/>
        </p:nvSpPr>
        <p:spPr>
          <a:xfrm>
            <a:off x="443292" y="3174946"/>
            <a:ext cx="200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EXPERIENCE</a:t>
            </a:r>
          </a:p>
        </p:txBody>
      </p:sp>
      <p:cxnSp>
        <p:nvCxnSpPr>
          <p:cNvPr id="201" name="Experience Line"/>
          <p:cNvCxnSpPr/>
          <p:nvPr/>
        </p:nvCxnSpPr>
        <p:spPr>
          <a:xfrm>
            <a:off x="0" y="3416300"/>
            <a:ext cx="7561500" cy="0"/>
          </a:xfrm>
          <a:prstGeom prst="straightConnector1">
            <a:avLst/>
          </a:prstGeom>
          <a:noFill/>
          <a:ln w="1905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2" name="Experience Company"/>
          <p:cNvSpPr txBox="1"/>
          <p:nvPr/>
        </p:nvSpPr>
        <p:spPr>
          <a:xfrm>
            <a:off x="443292" y="3530600"/>
            <a:ext cx="6718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tabLst>
                <a:tab pos="6718300" algn="r"/>
              </a:tabLst>
            </a:pPr>
            <a:r>
              <a:rPr lang="en-US" sz="1000" b="1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REALTEK SEMICONDUCTOR</a:t>
            </a:r>
            <a:r>
              <a:rPr lang="en-US" sz="100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	Jul - Aug 2026</a:t>
            </a:r>
          </a:p>
        </p:txBody>
      </p:sp>
      <p:sp>
        <p:nvSpPr>
          <p:cNvPr id="203" name="Experience Role"/>
          <p:cNvSpPr txBox="1"/>
          <p:nvPr/>
        </p:nvSpPr>
        <p:spPr>
          <a:xfrm>
            <a:off x="443292" y="3714750"/>
            <a:ext cx="6718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Intern, System Development (SD) Team, Multimedia Business Group.</a:t>
            </a:r>
          </a:p>
        </p:txBody>
      </p:sp>
      <p:sp>
        <p:nvSpPr>
          <p:cNvPr id="204" name="Experience Bullets"/>
          <p:cNvSpPr txBox="1"/>
          <p:nvPr/>
        </p:nvSpPr>
        <p:spPr>
          <a:xfrm>
            <a:off x="291089" y="3906520"/>
            <a:ext cx="6795600" cy="961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921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000"/>
              <a:buFont typeface="Lora"/>
              <a:buChar char="●"/>
            </a:pPr>
            <a:r>
              <a:rPr lang="en-US" sz="1000" dirty="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Built an automated image-annotation pipeline that generates preliminary labels for human review, cutting annotation man-hours by over 50% while maintaining consistent label quality.</a:t>
            </a:r>
          </a:p>
          <a:p>
            <a:pPr marL="457200" lvl="0" indent="-2921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000"/>
              <a:buFont typeface="Lora"/>
              <a:buChar char="●"/>
            </a:pPr>
            <a:r>
              <a:rPr lang="en-US" sz="1000" dirty="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Automated image content classification and </a:t>
            </a:r>
            <a:r>
              <a:rPr lang="en-US" sz="100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training-data collection, eliminating manual review and letting datasets scale without added labor cost.</a:t>
            </a:r>
          </a:p>
          <a:p>
            <a:pPr marL="457200" lvl="0" indent="-2921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000"/>
              <a:buFont typeface="Lora"/>
              <a:buChar char="●"/>
            </a:pPr>
            <a:r>
              <a:rPr lang="en-US" sz="1000" dirty="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Packaged the tools into a user-friendly web UI (Vite, </a:t>
            </a:r>
            <a:r>
              <a:rPr lang="en-US" sz="1000" dirty="0" err="1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FastAPI</a:t>
            </a:r>
            <a:r>
              <a:rPr lang="en-US" sz="1000" dirty="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, </a:t>
            </a:r>
            <a:r>
              <a:rPr lang="en-US" sz="1000" dirty="0" err="1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Ollama</a:t>
            </a:r>
            <a:r>
              <a:rPr lang="en-US" sz="1000" dirty="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) for easy handover.</a:t>
            </a:r>
          </a:p>
        </p:txBody>
      </p:sp>
      <p:sp>
        <p:nvSpPr>
          <p:cNvPr id="74" name="Google Shape;74;p13">
            <a:extLst>
              <a:ext uri="{FF2B5EF4-FFF2-40B4-BE49-F238E27FC236}">
                <a16:creationId xmlns:a16="http://schemas.microsoft.com/office/drawing/2014/main" id="{0085B5D4-B0F6-B262-8A24-880A1B05EC6A}"/>
              </a:ext>
            </a:extLst>
          </p:cNvPr>
          <p:cNvSpPr txBox="1"/>
          <p:nvPr/>
        </p:nvSpPr>
        <p:spPr>
          <a:xfrm>
            <a:off x="443292" y="4950460"/>
            <a:ext cx="123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 b="1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PROJECTS</a:t>
            </a:r>
            <a:endParaRPr sz="1200" b="1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73" name="Google Shape;73;p13">
            <a:extLst>
              <a:ext uri="{FF2B5EF4-FFF2-40B4-BE49-F238E27FC236}">
                <a16:creationId xmlns:a16="http://schemas.microsoft.com/office/drawing/2014/main" id="{91594846-876B-20EB-7849-4E4603FFDAAF}"/>
              </a:ext>
            </a:extLst>
          </p:cNvPr>
          <p:cNvCxnSpPr/>
          <p:nvPr/>
        </p:nvCxnSpPr>
        <p:spPr>
          <a:xfrm>
            <a:off x="0" y="5191760"/>
            <a:ext cx="7561500" cy="0"/>
          </a:xfrm>
          <a:prstGeom prst="straightConnector1">
            <a:avLst/>
          </a:prstGeom>
          <a:noFill/>
          <a:ln w="1905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" name="Google Shape;75;p13">
            <a:extLst>
              <a:ext uri="{FF2B5EF4-FFF2-40B4-BE49-F238E27FC236}">
                <a16:creationId xmlns:a16="http://schemas.microsoft.com/office/drawing/2014/main" id="{2C2FDE1C-4FFE-9E7F-F377-3AC956928073}"/>
              </a:ext>
            </a:extLst>
          </p:cNvPr>
          <p:cNvSpPr txBox="1"/>
          <p:nvPr/>
        </p:nvSpPr>
        <p:spPr>
          <a:xfrm>
            <a:off x="443308" y="5306060"/>
            <a:ext cx="49668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 b="1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MentalRAG (LLM-Powered Counseling Assistant)</a:t>
            </a:r>
            <a:endParaRPr sz="1000" b="1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6" name="Google Shape;76;p13">
            <a:extLst>
              <a:ext uri="{FF2B5EF4-FFF2-40B4-BE49-F238E27FC236}">
                <a16:creationId xmlns:a16="http://schemas.microsoft.com/office/drawing/2014/main" id="{CDC784A6-6943-0AC0-825E-33B29D434AB5}"/>
              </a:ext>
            </a:extLst>
          </p:cNvPr>
          <p:cNvSpPr txBox="1"/>
          <p:nvPr/>
        </p:nvSpPr>
        <p:spPr>
          <a:xfrm>
            <a:off x="291089" y="5501640"/>
            <a:ext cx="6795600" cy="11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921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000"/>
              <a:buFont typeface="Lora"/>
              <a:buChar char="●"/>
            </a:pPr>
            <a:r>
              <a:rPr lang="uk" sz="100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Developed a RAG-based mental health advisory system in collaboration with the Ministry of Education, enabling university faculty to access professional case-based guidance for student support.</a:t>
            </a:r>
            <a:endParaRPr sz="1000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2921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000"/>
              <a:buFont typeface="Lora"/>
              <a:buChar char="●"/>
            </a:pPr>
            <a:r>
              <a:rPr lang="uk" sz="100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Implemented a GitLab CI pipeline to automate Docker image builds and registry deployment.</a:t>
            </a:r>
            <a:endParaRPr sz="1000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2921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000"/>
              <a:buFont typeface="Lora"/>
              <a:buChar char="●"/>
            </a:pPr>
            <a:r>
              <a:rPr lang="uk" sz="100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Led system benchmarking, using Promptfoo to evaluate response quality for high-stakes mental health scenarios.</a:t>
            </a:r>
            <a:endParaRPr sz="1000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2921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000"/>
              <a:buFont typeface="Lora"/>
              <a:buChar char="●"/>
            </a:pPr>
            <a:r>
              <a:rPr lang="uk" sz="100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Optimized RAG retrieval using LangChain, achieving a 12% increase in retrieval hit rate.</a:t>
            </a:r>
            <a:endParaRPr sz="1000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285EAEDD-926A-A933-6AF9-19ACC9E80B75}"/>
              </a:ext>
            </a:extLst>
          </p:cNvPr>
          <p:cNvSpPr txBox="1"/>
          <p:nvPr/>
        </p:nvSpPr>
        <p:spPr>
          <a:xfrm>
            <a:off x="440071" y="6703060"/>
            <a:ext cx="49668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 b="1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EnHAR-LLM: Energy-Aware Human Activity Recognition | ACL Submission</a:t>
            </a:r>
            <a:endParaRPr sz="1000" b="1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5A818F5D-0FF7-E565-1646-D0E3DC6CEBC0}"/>
              </a:ext>
            </a:extLst>
          </p:cNvPr>
          <p:cNvSpPr txBox="1"/>
          <p:nvPr/>
        </p:nvSpPr>
        <p:spPr>
          <a:xfrm>
            <a:off x="287852" y="6899284"/>
            <a:ext cx="6795600" cy="13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921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000"/>
              <a:buFont typeface="Lora"/>
              <a:buChar char="●"/>
            </a:pPr>
            <a:r>
              <a:rPr lang="uk" sz="100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Developed a two-stage EnHAR-LLM framework that bridges signal restoration and semantic recognition, utilizing attention-based imputation to reconstruct coarse signals before fusing them with imputation stage representations and time-series embeddings for classification.</a:t>
            </a:r>
            <a:endParaRPr sz="1000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2921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000"/>
              <a:buFont typeface="Lora"/>
              <a:buChar char="●"/>
            </a:pPr>
            <a:r>
              <a:rPr lang="uk" sz="100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Improved F1 score by 10.23% over state-of-the-art baselines and surpassed the higher-frequency (1Hz) baseline performance despite using 90% less data (0.1Hz vs 1Hz).</a:t>
            </a:r>
            <a:endParaRPr sz="1000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2921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000"/>
              <a:buFont typeface="Lora"/>
              <a:buChar char="●"/>
            </a:pPr>
            <a:r>
              <a:rPr lang="uk" sz="100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Achieved a 95% relative F1 improvement under extreme downsampling (0.02Hz) using a Qwen backbone, successfully classifying minority high-movement activities such as bicycling.</a:t>
            </a:r>
            <a:endParaRPr sz="1000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8" name="Google Shape;78;p13">
            <a:extLst>
              <a:ext uri="{FF2B5EF4-FFF2-40B4-BE49-F238E27FC236}">
                <a16:creationId xmlns:a16="http://schemas.microsoft.com/office/drawing/2014/main" id="{137DC98F-B578-D91D-525F-B2F12EF188F5}"/>
              </a:ext>
            </a:extLst>
          </p:cNvPr>
          <p:cNvSpPr txBox="1"/>
          <p:nvPr/>
        </p:nvSpPr>
        <p:spPr>
          <a:xfrm>
            <a:off x="443310" y="8277860"/>
            <a:ext cx="2877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 b="1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SKILLS</a:t>
            </a:r>
            <a:endParaRPr sz="1200" b="1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77" name="Google Shape;77;p13">
            <a:extLst>
              <a:ext uri="{FF2B5EF4-FFF2-40B4-BE49-F238E27FC236}">
                <a16:creationId xmlns:a16="http://schemas.microsoft.com/office/drawing/2014/main" id="{7F9A4232-9F6E-1074-3685-17E312850186}"/>
              </a:ext>
            </a:extLst>
          </p:cNvPr>
          <p:cNvCxnSpPr/>
          <p:nvPr/>
        </p:nvCxnSpPr>
        <p:spPr>
          <a:xfrm>
            <a:off x="0" y="8519160"/>
            <a:ext cx="7561500" cy="0"/>
          </a:xfrm>
          <a:prstGeom prst="straightConnector1">
            <a:avLst/>
          </a:prstGeom>
          <a:noFill/>
          <a:ln w="1905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" name="Google Shape;79;p13">
            <a:extLst>
              <a:ext uri="{FF2B5EF4-FFF2-40B4-BE49-F238E27FC236}">
                <a16:creationId xmlns:a16="http://schemas.microsoft.com/office/drawing/2014/main" id="{A878DB08-B6DD-E0EB-5AF9-4F9B0362CF95}"/>
              </a:ext>
            </a:extLst>
          </p:cNvPr>
          <p:cNvSpPr txBox="1"/>
          <p:nvPr/>
        </p:nvSpPr>
        <p:spPr>
          <a:xfrm>
            <a:off x="287572" y="8633460"/>
            <a:ext cx="6643200" cy="1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000"/>
              <a:buFont typeface="Lora"/>
              <a:buChar char="●"/>
            </a:pPr>
            <a:r>
              <a:rPr lang="uk" sz="1000" b="1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Programming Languages</a:t>
            </a:r>
            <a:r>
              <a:rPr lang="uk" sz="100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: Python, JavaScript, C, HTML, CSS.</a:t>
            </a:r>
            <a:endParaRPr sz="1000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000"/>
              <a:buFont typeface="Lora"/>
              <a:buChar char="●"/>
            </a:pPr>
            <a:r>
              <a:rPr lang="uk" sz="1000" b="1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AI &amp; Machine Learning</a:t>
            </a:r>
            <a:r>
              <a:rPr lang="uk" sz="100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: PyTorch, Hugging Face Transformers, Large Language Models (LLMs), RAG (Retrieval-Augmented Generation), LangChain, Scikit-learn.</a:t>
            </a:r>
            <a:endParaRPr sz="1000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000"/>
              <a:buFont typeface="Lora"/>
              <a:buChar char="●"/>
            </a:pPr>
            <a:r>
              <a:rPr lang="uk" sz="1000" b="1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DevOps &amp; Cloud</a:t>
            </a:r>
            <a:r>
              <a:rPr lang="uk" sz="100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: Docker, Google Cloud Platform (GCP), Cloud Run, CI/CD (GitHub Actions, GitLab CI), Linux, Git/Version Control, Containerization.</a:t>
            </a:r>
            <a:endParaRPr sz="1000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000"/>
              <a:buFont typeface="Lora"/>
              <a:buChar char="●"/>
            </a:pPr>
            <a:r>
              <a:rPr lang="uk" sz="1000" b="1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Web Development</a:t>
            </a:r>
            <a:r>
              <a:rPr lang="uk" sz="100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: React.js, Next.js, TailwindCSS, RESTful APIs, Frontend, Backend.</a:t>
            </a:r>
            <a:endParaRPr sz="1000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000"/>
              <a:buFont typeface="Lora"/>
              <a:buChar char="●"/>
            </a:pPr>
            <a:r>
              <a:rPr lang="uk" sz="1000" b="1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Languages</a:t>
            </a:r>
            <a:r>
              <a:rPr lang="uk" sz="100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: Mandarin (Native Proficiency), English (Fluent: IELTS 8.5), Malay (Fluent: SPM Grade A).</a:t>
            </a:r>
            <a:endParaRPr sz="1000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2" name="Google Shape;82;p13">
            <a:extLst>
              <a:ext uri="{FF2B5EF4-FFF2-40B4-BE49-F238E27FC236}">
                <a16:creationId xmlns:a16="http://schemas.microsoft.com/office/drawing/2014/main" id="{8043787A-57A1-A9F0-3763-6F04C753C901}"/>
              </a:ext>
            </a:extLst>
          </p:cNvPr>
          <p:cNvSpPr txBox="1"/>
          <p:nvPr/>
        </p:nvSpPr>
        <p:spPr>
          <a:xfrm>
            <a:off x="447890" y="9782810"/>
            <a:ext cx="2066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 b="1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HONORS &amp; AWARDS</a:t>
            </a:r>
            <a:endParaRPr sz="1200" b="1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81" name="Google Shape;81;p13">
            <a:extLst>
              <a:ext uri="{FF2B5EF4-FFF2-40B4-BE49-F238E27FC236}">
                <a16:creationId xmlns:a16="http://schemas.microsoft.com/office/drawing/2014/main" id="{A7B3A4D5-D7C0-DFBD-D058-D39D4979DB67}"/>
              </a:ext>
            </a:extLst>
          </p:cNvPr>
          <p:cNvCxnSpPr/>
          <p:nvPr/>
        </p:nvCxnSpPr>
        <p:spPr>
          <a:xfrm>
            <a:off x="4598" y="10024110"/>
            <a:ext cx="7561500" cy="0"/>
          </a:xfrm>
          <a:prstGeom prst="straightConnector1">
            <a:avLst/>
          </a:prstGeom>
          <a:noFill/>
          <a:ln w="1905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" name="Google Shape;83;p13">
            <a:extLst>
              <a:ext uri="{FF2B5EF4-FFF2-40B4-BE49-F238E27FC236}">
                <a16:creationId xmlns:a16="http://schemas.microsoft.com/office/drawing/2014/main" id="{FF906370-AAE0-45B2-1515-295018F2BC0B}"/>
              </a:ext>
            </a:extLst>
          </p:cNvPr>
          <p:cNvSpPr txBox="1"/>
          <p:nvPr/>
        </p:nvSpPr>
        <p:spPr>
          <a:xfrm>
            <a:off x="288131" y="10138410"/>
            <a:ext cx="68748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000"/>
              <a:buFont typeface="Lora"/>
              <a:buChar char="●"/>
              <a:tabLst>
                <a:tab pos="6870700" algn="r"/>
              </a:tabLst>
            </a:pPr>
            <a:r>
              <a:rPr lang="uk" sz="1000" b="1" dirty="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Outstanding Student Award (NCKU)	</a:t>
            </a:r>
            <a:r>
              <a:rPr lang="uk" sz="1000" dirty="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2021</a:t>
            </a:r>
            <a:endParaRPr sz="1000" dirty="0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 b="1" dirty="0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000"/>
              <a:buFont typeface="Lora"/>
              <a:buChar char="●"/>
              <a:tabLst>
                <a:tab pos="6870700" algn="r"/>
              </a:tabLst>
            </a:pPr>
            <a:r>
              <a:rPr lang="uk" sz="1000" b="1" dirty="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Outstanding Overseas Graduate Award	</a:t>
            </a:r>
            <a:r>
              <a:rPr lang="uk" sz="1000" dirty="0">
                <a:solidFill>
                  <a:srgbClr val="282828"/>
                </a:solidFill>
                <a:latin typeface="Lora"/>
                <a:ea typeface="Lora"/>
                <a:cs typeface="Lora"/>
                <a:sym typeface="Lora"/>
              </a:rPr>
              <a:t>2025</a:t>
            </a:r>
            <a:endParaRPr sz="1000" dirty="0">
              <a:solidFill>
                <a:srgbClr val="282828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  <p:extLst>
      <p:ext uri="{BB962C8B-B14F-4D97-AF65-F5344CB8AC3E}">
        <p14:creationId xmlns:p14="http://schemas.microsoft.com/office/powerpoint/2010/main" val="47171741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C2133FA-EEB3-1B47-BFB9-427CFCD1381A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e18a20c-1473-420e-a4bd-6bdfa919d1f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482</Words>
  <Application>Microsoft Office PowerPoint</Application>
  <PresentationFormat>Custom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Lora</vt:lpstr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Hao Tzun Chai</dc:creator>
  <cp:lastModifiedBy>蔡鎬駿 CHAI HAO TZUN</cp:lastModifiedBy>
  <cp:revision>6</cp:revision>
  <dcterms:modified xsi:type="dcterms:W3CDTF">2026-10-08T05:54:58Z</dcterms:modified>
</cp:coreProperties>
</file>